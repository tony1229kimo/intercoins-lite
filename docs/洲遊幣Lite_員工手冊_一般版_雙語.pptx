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B892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972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N T E R C O N T I N E N T A 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444752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15798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InterCoins Lite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2615184"/>
            <a:ext cx="457200" cy="32004"/>
          </a:xfrm>
          <a:prstGeom prst="rect">
            <a:avLst/>
          </a:prstGeom>
          <a:solidFill>
            <a:srgbClr val="B8923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員工手冊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AD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Staff Guide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4787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5AD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櫃檯 · 餐廳外場 · 客服 · 行銷執行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A83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 Desk · F&amp;B Service · Guest Relations · Marketing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3936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活動期間 Campaign Period　2026.09.01 – 11.30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Contents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457200" cy="36576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5" name="Text 3"/>
          <p:cNvSpPr/>
          <p:nvPr/>
        </p:nvSpPr>
        <p:spPr>
          <a:xfrm>
            <a:off x="8366760" y="477774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7777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員工手冊 · InterCoins Lite Staff Guide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3441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8408" y="1325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活動概要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78408" y="159105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About the Campaign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09397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78408" y="20756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客人怎麼參加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" y="234086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Guests Join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84378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78408" y="28254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客人怎麼玩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78408" y="309067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the Game Works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5935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78408" y="35753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兩種領獎方式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78408" y="384048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Two Ways Prizes Are Claimed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9160" y="13441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93208" y="1325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只有兌換碼、沒有券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93208" y="159105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 but No Coupon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9160" y="209397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93208" y="20756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櫃檯核銷步驟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93208" y="234086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Counter Redemption Procedure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284378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93208" y="28254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常見問題與標準回答（含櫃檯）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093208" y="309067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FAQ &amp; Suggested Replies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9160" y="35935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93208" y="35753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不可以對客人說的事 / 何時回報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93208" y="384048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Not to Disclose / When to Escalate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434340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4ECE7"/>
          </a:solidFill>
          <a:ln w="9525">
            <a:solidFill>
              <a:srgbClr val="935D0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" y="4389120"/>
            <a:ext cx="7845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📖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4、5 章是最容易搞錯的部分（領獎方式看獎品不看飯店；只有兌換碼有兩種人），請務必看完。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 Sections 4 and 5 are the most commonly misunderstood — please read them carefully.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一、活動概要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About the Campaign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457200" cy="36576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5" name="Text 3"/>
          <p:cNvSpPr/>
          <p:nvPr/>
        </p:nvSpPr>
        <p:spPr>
          <a:xfrm>
            <a:off x="8366760" y="477774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7777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員工手冊 · InterCoins Lite Staff Guide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「洲遊幣 Lite」是臺北洲際酒店與高雄洲際酒店合辦的中秋線上抽獎遊戲。
</a:t>
            </a:r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InterCoins Lite is a Mid-Autumn online prize game jointly run by InterContinental Taipei and InterContinental Kaohsiung.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2596896" cy="1600200"/>
          </a:xfrm>
          <a:prstGeom prst="roundRect">
            <a:avLst>
              <a:gd name="adj" fmla="val 4571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0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活動期間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28254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Campaign Period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309067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9 月 1 日 – 11 月 30 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328416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Sep – 30 Nov 2026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73552" y="2103120"/>
            <a:ext cx="2596896" cy="1600200"/>
          </a:xfrm>
          <a:prstGeom prst="roundRect">
            <a:avLst>
              <a:gd name="adj" fmla="val 4571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2240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📱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456432" y="260604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在哪裡玩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56432" y="28254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56432" y="309067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LINE 中進行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56432" y="3328416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Played entirely within LINE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44184" y="2103120"/>
            <a:ext cx="2596896" cy="1600200"/>
          </a:xfrm>
          <a:prstGeom prst="roundRect">
            <a:avLst>
              <a:gd name="adj" fmla="val 4571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7064" y="2240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🎁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227064" y="260604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獎品來源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27064" y="28254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Prizes From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27064" y="309067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兩家飯店的獎品同時在一個轉盤裡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27064" y="3328416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Both hotels share one prize wheel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4ECE7"/>
          </a:solidFill>
          <a:ln w="9525">
            <a:solidFill>
              <a:srgbClr val="935D0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" y="3977640"/>
            <a:ext cx="7845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🥮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客人是掃描月餅禮盒內附的 QR Code 進入活動。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 Guests enter by scanning the QR code included in the mooncake gift box.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二、客人怎麼參加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Guests Join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457200" cy="36576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5" name="Text 3"/>
          <p:cNvSpPr/>
          <p:nvPr/>
        </p:nvSpPr>
        <p:spPr>
          <a:xfrm>
            <a:off x="8366760" y="477774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7777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員工手冊 · InterCoins Lite Staff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935D0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29844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掃描月餅禮盒內附的 QR Code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55448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Scan the QR code inside the mooncake gift box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935D0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93852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LINE 帳號登入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19456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 in with their LINE account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935D0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57860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加入「高雄洲際酒店」LINE 官方帳號好友（必要）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83464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Add InterContinental Kaohsiung's LINE Official Account as a friend (required)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935D0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21868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進入遊戲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47472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Enter the game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88620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F4ECE7"/>
          </a:solidFill>
          <a:ln w="9525">
            <a:solidFill>
              <a:srgbClr val="935D0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" y="3931920"/>
            <a:ext cx="3639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❓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為什麼一定要加好友？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 Because prize coupons are delivered to the guest's LINE chat — without the friendship, they cannot be sent.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88620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FBF1DC"/>
          </a:solidFill>
          <a:ln w="9525">
            <a:solidFill>
              <a:srgbClr val="9C62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3931920"/>
            <a:ext cx="3639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C62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🙅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9C62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請勿私下轉發活動連結給客人。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C62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 Please do not forward the campaign link — always direct guests to the QR code in the gift box.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三、客人怎麼玩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the Game Works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457200" cy="36576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5" name="Text 3"/>
          <p:cNvSpPr/>
          <p:nvPr/>
        </p:nvSpPr>
        <p:spPr>
          <a:xfrm>
            <a:off x="8366760" y="477774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7777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員工手冊 · InterCoins Lite Staff Guide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完成任務 → 獲得洲遊幣 → 投幣抽獎
</a:t>
            </a:r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Complete tasks → Earn InterCoins → Spend them to spin the wheel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931920" cy="2148840"/>
          </a:xfrm>
          <a:prstGeom prst="roundRect">
            <a:avLst>
              <a:gd name="adj" fmla="val 3404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5681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可以做的任務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Available Tasks　（每項 +1 洲遊幣 / +1 coin each）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2432304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追蹤 高雄洲際 Instagram / Facebook
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追蹤 臺北洲際 Instagram / Facebook
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追蹤 高雄洲際「食遇」Instagram / Facebook
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分享活動給好友
</a:t>
            </a:r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填寫個人資料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828800"/>
            <a:ext cx="3931920" cy="2148840"/>
          </a:xfrm>
          <a:prstGeom prst="roundRect">
            <a:avLst>
              <a:gd name="adj" fmla="val 3404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95681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投幣抽獎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Spending Coins on the Wheel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19472" y="2468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三等獎　</a:t>
            </a:r>
            <a:pPr indent="0" marL="0"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Third Prize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86600" y="24871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4ECE7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2487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 1 枚 / 1 coin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19472" y="2926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二等獎　</a:t>
            </a:r>
            <a:pPr indent="0" marL="0"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Second Prize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86600" y="29443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4ECE7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2944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 3 枚 / 3 coins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19472" y="3383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一等獎　</a:t>
            </a:r>
            <a:pPr indent="0" marL="0"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First Prize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86600" y="340156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4ECE7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3401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 5 枚 / 5 coins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411480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BEDED"/>
          </a:solidFill>
          <a:ln w="9525">
            <a:solidFill>
              <a:srgbClr val="9A3B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4160520"/>
            <a:ext cx="7845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🪙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每次抽獎都會扣洲遊幣，但一定會中獎 —— 最少也會拿到餐飲 85 折優惠。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 Every spin costs coins, and every spin wins something — at minimum a 15% dining discount.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四、⭐ 兩種領獎方式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Two Ways Prizes Are Claimed　—　最重要的一頁 / The most important page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457200" cy="36576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5" name="Text 3"/>
          <p:cNvSpPr/>
          <p:nvPr/>
        </p:nvSpPr>
        <p:spPr>
          <a:xfrm>
            <a:off x="8366760" y="477774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7777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員工手冊 · InterCoins Lite Staff Guide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看【客人手上有沒有優惠券】，不是看哪一家飯店。
</a:t>
            </a:r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matters is whether the guest has a coupon — not which hotel the prize is from.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3EADA"/>
          </a:solidFill>
          <a:ln w="15875">
            <a:solidFill>
              <a:srgbClr val="C9A9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8105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📩  有優惠券（多數獎項）
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Coupon Issued — most prizes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28600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券在中獎當下自動進客人的 LINE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Delivered to their LINE chat automatically
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客人自行點選領取（限一次）
</a:t>
            </a:r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Claimed by the guest, once only
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到店出示兌換碼 → 櫃檯核銷
</a:t>
            </a:r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Present the code → redeem at counter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6916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E7EDF3"/>
          </a:solidFill>
          <a:ln w="15875">
            <a:solidFill>
              <a:srgbClr val="8FA9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105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553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📞  沒有券・專人聯繫
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553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 Coupon — direct follow-up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228600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臺北全部獎項 ＋ 高雄的兩項住宿大獎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553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All Taipei prizes + two Kaohsiung room prizes
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畫面請客人留姓名／手機／Email
</a:t>
            </a:r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553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Guest submits their contact details
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該館同仁主動聯繫安排
</a:t>
            </a:r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553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That hotel's team contacts them directly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11480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BEDED"/>
          </a:solidFill>
          <a:ln w="9525">
            <a:solidFill>
              <a:srgbClr val="9A3B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4160520"/>
            <a:ext cx="7845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🚫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客人只有兌換碼、LINE 裡沒有優惠券 → 是專人聯繫的獎項，請勿核銷。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 If the guest has only a code and no coupon in LINE, it is a follow-up prize — do not redeem.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四之二、哪些獎項要專人聯繫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Which Prizes Require Follow-Up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457200" cy="36576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5" name="Text 3"/>
          <p:cNvSpPr/>
          <p:nvPr/>
        </p:nvSpPr>
        <p:spPr>
          <a:xfrm>
            <a:off x="8366760" y="477774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7777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員工手冊 · InterCoins Lite Staff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7EDF3"/>
          </a:solidFill>
          <a:ln w="12700">
            <a:solidFill>
              <a:srgbClr val="8FA9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16736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3553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🔵  臺北洲際酒店
</a:t>
            </a:r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553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InterContinental Taipei
</a:t>
            </a:r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全部獎項
</a:t>
            </a:r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553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All prizes — redemption terms not yet finalised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3EADA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316736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🟡  高雄洲際酒店
</a:t>
            </a:r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InterContinental Kaohsiung
</a:t>
            </a:r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只有這兩項住宿大獎
</a:t>
            </a:r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Only these two room prizes — the rest issue coupons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FFDFA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5234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743200"/>
            <a:ext cx="7360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高雄洲際酒店 港灣海景開放式套房 住宿一晚（含雙人早餐）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Harbour View Studio Suite — one night with breakfast for two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355848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FFDFA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1071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401568"/>
            <a:ext cx="7360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高雄洲際酒店 豪華經典房 住宿一晚（含雙人早餐）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Deluxe Classic Room — one night with breakfast for two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6908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4ECE7"/>
          </a:solidFill>
          <a:ln w="9525">
            <a:solidFill>
              <a:srgbClr val="935D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4114800"/>
            <a:ext cx="7845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🛏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住宿券要安排入住日期與房型，不是拿張券到櫃檯就能換，所以由飯店的人主動聯繫。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 Room stays require arranging dates and room types, so the hotel contacts the guest directly.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五、⭐ 只有兌換碼、沒有優惠券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 but No Coupon　—　有兩種人，要分開處理 / Two different cases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457200" cy="36576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5" name="Text 3"/>
          <p:cNvSpPr/>
          <p:nvPr/>
        </p:nvSpPr>
        <p:spPr>
          <a:xfrm>
            <a:off x="8366760" y="477774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7777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員工手冊 · InterCoins Lite Staff Guide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15214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同樣是「只有兌換碼」，有的人是真的中獎，有的人要等專人聯繫。看獎品名稱就能分。
</a:t>
            </a:r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Both look the same. Tell them apart by the prize name.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700784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E8F3EC"/>
          </a:solidFill>
          <a:ln w="15240">
            <a:solidFill>
              <a:srgbClr val="1F6B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F6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 是真的中獎 → 受理
</a:t>
            </a:r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genuine win — accept it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2340864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獎品是「高雄洲際酒店」的實體小物或餐飲券
</a:t>
            </a:r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Kaohsiung merchandise or dining vouchers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系統曾經發生異常，券沒送進客人的 LINE。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獎品確實是他的 —— 請受理並回報主管確認。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700784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FBEDED"/>
          </a:solidFill>
          <a:ln w="15240">
            <a:solidFill>
              <a:srgbClr val="9A3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🚫  專人聯繫類 → 不核銷
</a:t>
            </a:r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Follow-up prize — do not redeem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19472" y="2340864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獎品名稱有「臺北洲際酒店」
② 任何「住宿一晚」的獎項
</a:t>
            </a:r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Any Taipei prize, or any room stay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這類獎項本來就不發券，由該館同仁主動聯繫。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請告知客人會有專人聯繫，並回報主管。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041648"/>
            <a:ext cx="8138160" cy="640080"/>
          </a:xfrm>
          <a:prstGeom prst="roundRect">
            <a:avLst>
              <a:gd name="adj" fmla="val 8571"/>
            </a:avLst>
          </a:prstGeom>
          <a:solidFill>
            <a:srgbClr val="F4ECE7"/>
          </a:solidFill>
          <a:ln w="9525">
            <a:solidFill>
              <a:srgbClr val="935D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4087368"/>
            <a:ext cx="7845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🔑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一句話：看到「臺北」或「住宿」→ 不核銷；其餘高雄的實體小物與餐飲券 → 受理，回報主管。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 In short: Taipei or room stay → do not redeem. Other Kaohsiung items → accept and report to your supervisor.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六、櫃檯核銷步驟（高雄）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Counter Redemption Procedure (Kaohsiung)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457200" cy="36576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5" name="Text 3"/>
          <p:cNvSpPr/>
          <p:nvPr/>
        </p:nvSpPr>
        <p:spPr>
          <a:xfrm>
            <a:off x="8366760" y="477774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7777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員工手冊 · InterCoins Lite Staff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84048" cy="384048"/>
          </a:xfrm>
          <a:prstGeom prst="ellipse">
            <a:avLst/>
          </a:prstGeom>
          <a:solidFill>
            <a:srgbClr val="935D0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25272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請客人出示 LINE 中的優惠券畫面與兌換碼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50876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Ask the guest to show the coupon in LINE, along with the redemption code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935D0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84708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沒有優惠券、只有兌換碼 → 先看獎品名稱再決定（見下一頁）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10312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code with no coupon — check the prize name first (see next page)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384048" cy="384048"/>
          </a:xfrm>
          <a:prstGeom prst="ellipse">
            <a:avLst/>
          </a:prstGeom>
          <a:solidFill>
            <a:srgbClr val="935D0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44144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依券面規則辦理（部分獎品有消費門檻或指定地點／時段）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69748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Follow the terms shown on the coupon — some prizes have a minimum spend, venue or time window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rgbClr val="935D0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63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03580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核銷後交付獎品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29184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Complete redemption and hand over the prize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74904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FBF1DC"/>
          </a:solidFill>
          <a:ln w="9525">
            <a:solidFill>
              <a:srgbClr val="9C62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" y="3794760"/>
            <a:ext cx="3639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C62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🤔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9C62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無法確認時，不要自行判斷。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C62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 If anything is unclear, do not decide on your own — contact your supervisor to check the record.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74904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FBEDED"/>
          </a:solidFill>
          <a:ln w="9525">
            <a:solidFill>
              <a:srgbClr val="9A3B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3794760"/>
            <a:ext cx="3639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🚫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臺北的獎、或任何住宿獎 → 一律不核銷。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 Taipei prizes and any room-stay prize are never redeemed at the counter.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七、常見問題與標準回答（1/4）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FAQ &amp; Suggested Replies (1 of 4)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457200" cy="36576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5" name="Text 3"/>
          <p:cNvSpPr/>
          <p:nvPr/>
        </p:nvSpPr>
        <p:spPr>
          <a:xfrm>
            <a:off x="8366760" y="477774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7777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員工手冊 · InterCoins Lite Staff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8138160" cy="1243584"/>
          </a:xfrm>
          <a:prstGeom prst="roundRect">
            <a:avLst>
              <a:gd name="adj" fmla="val 4412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我沒有收到優惠券？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 I didn't receive my coupon.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682496"/>
            <a:ext cx="7772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請打開高雄洲際酒店的 LINE 對話往上找，優惠券是以訊息形式發送的。若真的找不到，我幫您回報，會有同仁協助處理。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Please scroll up in your LINE chat with InterContinental Kaohsiung — the coupon is sent as a message. If you still can't find it, I'll report it for assistance.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8138160" cy="1024128"/>
          </a:xfrm>
          <a:prstGeom prst="roundRect">
            <a:avLst>
              <a:gd name="adj" fmla="val 5357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2374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券的連結點了，顯示「已使用過」？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 The coupon link says it has already been used.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01752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每張券只能領取一次。如果您確定沒有領過，我幫您回報查詢。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Each coupon can only be claimed once. If you're sure you haven't claimed it, I'll report it for verification.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566160"/>
            <a:ext cx="8138160" cy="1078992"/>
          </a:xfrm>
          <a:prstGeom prst="roundRect">
            <a:avLst>
              <a:gd name="adj" fmla="val 5085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3931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我中獎了，怎麼都沒有券？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 I won a prize, but there's no coupon.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13308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住宿類與臺北的獎項由飯店同仁直接與您聯繫安排，所以不會發送優惠券。若是其他獎品卻沒收到券，我幫您回報，同仁會協助處理。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 stays and Taipei prizes are arranged directly by our colleagues, so no coupon is issued. For any other prize, I'll report it and a colleague will assist.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七、常見問題與標準回答（2/4）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FAQ &amp; Suggested Replies (2 of 4)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457200" cy="36576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5" name="Text 3"/>
          <p:cNvSpPr/>
          <p:nvPr/>
        </p:nvSpPr>
        <p:spPr>
          <a:xfrm>
            <a:off x="8366760" y="477774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7777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員工手冊 · InterCoins Lite Staff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8138160" cy="1024128"/>
          </a:xfrm>
          <a:prstGeom prst="roundRect">
            <a:avLst>
              <a:gd name="adj" fmla="val 5357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我還沒留聯絡資料，要怎麼補？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 I haven't submitted my contact details yet.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68249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請再打開一次活動頁面，系統會自動提醒您填寫。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Please reopen the campaign page — the system will prompt you again automatically.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31136"/>
            <a:ext cx="8138160" cy="1133856"/>
          </a:xfrm>
          <a:prstGeom prst="roundRect">
            <a:avLst>
              <a:gd name="adj" fmla="val 4839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0428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為什麼我一直抽到餐飲 85 折？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 Why do I keep getting the 15% dining discount?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798064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本活動每次抽獎都一定會中獎，餐飲 85 折是保底獎項，其他獎品則有名額限制，發完為止。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Every spin wins something. The 15% dining discount is the guaranteed baseline; other prizes are limited and awarded while stocks last.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456432"/>
            <a:ext cx="8138160" cy="1207008"/>
          </a:xfrm>
          <a:prstGeom prst="roundRect">
            <a:avLst>
              <a:gd name="adj" fmla="val 4545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295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獎項一覽上的獎品抽不到？我抽到的又沒列在上面？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 I can't win what's listed — and what I won isn't on the list?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02336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獎項一覽列的是本活動的獎品種類，部分獎品已經送完；餐飲 85 折是保底獎項，不在清單上但一定拿得到。實際以抽獎結果為準。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list shows the prize types in this campaign; some are already fully claimed. The 15% dining discount is the guaranteed baseline and is not listed. The draw result is what counts.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七、常見問題與標準回答（3/4）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FAQ &amp; Suggested Replies (3 of 4)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457200" cy="36576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5" name="Text 3"/>
          <p:cNvSpPr/>
          <p:nvPr/>
        </p:nvSpPr>
        <p:spPr>
          <a:xfrm>
            <a:off x="8366760" y="477774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7777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員工手冊 · InterCoins Lite Staff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618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可以指定要抽哪個獎嗎？中獎率多少？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 Can I choose my prize? What are the odds?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7556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抽獎結果由系統隨機產生，無法指定。詳細規則請參考活動頁面的「活動規則」。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Results are generated randomly and cannot be selected. Full terms are available under "Campaign Rules" on the activity page.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877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獎品可以折換現金或轉讓嗎？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 Can the prize be exchanged for cash or transferred?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08152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依活動規則，獎項不得折換現金、找零或轉讓。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Under the campaign terms, prizes cannot be exchanged for cash, given as change, or transferred.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8138160" cy="640080"/>
          </a:xfrm>
          <a:prstGeom prst="roundRect">
            <a:avLst>
              <a:gd name="adj" fmla="val 8571"/>
            </a:avLst>
          </a:prstGeom>
          <a:solidFill>
            <a:srgbClr val="FBEDED"/>
          </a:solidFill>
          <a:ln w="9525">
            <a:solidFill>
              <a:srgbClr val="9A3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023360"/>
            <a:ext cx="7845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🚫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客人追問中獎率時，請勿透露任何數字 —— 一律回「由系統隨機產生」。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 If pressed on the odds, never share numbers — always answer that results are randomly generated.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七、常見問題與標準回答（4/4）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FAQ &amp; Suggested Replies (4 of 4)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457200" cy="36576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5" name="Text 3"/>
          <p:cNvSpPr/>
          <p:nvPr/>
        </p:nvSpPr>
        <p:spPr>
          <a:xfrm>
            <a:off x="8366760" y="477774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7777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員工手冊 · InterCoins Lite Staff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8138160" cy="1133856"/>
          </a:xfrm>
          <a:prstGeom prst="roundRect">
            <a:avLst>
              <a:gd name="adj" fmla="val 4839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為什麼三個等級抽到的都是餐飲 85 折？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 Why does every tier give the same dining discount?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682496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各項獎品都有名額限制，目前多數已經送完，所以抽到的是保底的餐飲 85 折優惠禮遇。這張券在館內餐廳都可以使用。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Every prize has a limited allocation and most have now been claimed, so the guaranteed 15% dining discount is awarded instead. The voucher can be used at our restaurants.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340864"/>
            <a:ext cx="8138160" cy="1060704"/>
          </a:xfrm>
          <a:prstGeom prst="roundRect">
            <a:avLst>
              <a:gd name="adj" fmla="val 5172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1401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為什麼現在抽不到「洲遊幣」了？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 Why can't I win InterCoins from the wheel any more?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907792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洲遊幣目前只能透過完成任務取得，轉盤上不再發放。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InterCoins are now earned only by completing tasks; they are no longer awarded on the wheel.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493008"/>
            <a:ext cx="8138160" cy="1170432"/>
          </a:xfrm>
          <a:prstGeom prst="roundRect">
            <a:avLst>
              <a:gd name="adj" fmla="val 4688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我中了住宿獎，什麼時候會有人聯絡我？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 I won a room stay — when will someone contact me?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059936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已收到您的資料，飯店同仁會主動與您聯繫安排。若超過一週仍未接到聯繫，我幫您回報。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 have your details and a colleague from the hotel will contact you to make arrangements. If you haven't heard from us within a week, I'll report it for you.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八、不可以對客人說的事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Not to Disclose to Guests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457200" cy="36576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5" name="Text 3"/>
          <p:cNvSpPr/>
          <p:nvPr/>
        </p:nvSpPr>
        <p:spPr>
          <a:xfrm>
            <a:off x="8366760" y="477774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7777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員工手冊 · InterCoins Lite Staff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8138160" cy="548640"/>
          </a:xfrm>
          <a:prstGeom prst="roundRect">
            <a:avLst>
              <a:gd name="adj" fmla="val 8333"/>
            </a:avLst>
          </a:prstGeom>
          <a:solidFill>
            <a:srgbClr val="FBEDE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25296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 各獎項的中獎機率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 Prize win probabilities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40680" y="1225296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屬內部設定，公開會引發爭議與質疑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810512"/>
            <a:ext cx="8138160" cy="548640"/>
          </a:xfrm>
          <a:prstGeom prst="roundRect">
            <a:avLst>
              <a:gd name="adj" fmla="val 8333"/>
            </a:avLst>
          </a:prstGeom>
          <a:solidFill>
            <a:srgbClr val="FBEDE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847088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 每個獎品還剩幾份／已發出幾份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 Remaining or issued prize quantities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40680" y="1847088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同上，也可能被人為衝量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432304"/>
            <a:ext cx="8138160" cy="548640"/>
          </a:xfrm>
          <a:prstGeom prst="roundRect">
            <a:avLst>
              <a:gd name="adj" fmla="val 8333"/>
            </a:avLst>
          </a:prstGeom>
          <a:solidFill>
            <a:srgbClr val="FB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46888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 內部管理系統的存在或操作方式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 The existence or use of internal admin systems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40680" y="246888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非對外資訊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054096"/>
            <a:ext cx="8138160" cy="548640"/>
          </a:xfrm>
          <a:prstGeom prst="roundRect">
            <a:avLst>
              <a:gd name="adj" fmla="val 8333"/>
            </a:avLst>
          </a:prstGeom>
          <a:solidFill>
            <a:srgbClr val="FBEDE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09067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 其他中獎者的姓名／電話／中獎內容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 Other winners' names, numbers or prizes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40680" y="3090672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個人資料，涉及法律責任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675888"/>
            <a:ext cx="8138160" cy="548640"/>
          </a:xfrm>
          <a:prstGeom prst="roundRect">
            <a:avLst>
              <a:gd name="adj" fmla="val 8333"/>
            </a:avLst>
          </a:prstGeom>
          <a:solidFill>
            <a:srgbClr val="FB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12464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 對兌換方式或日期做個人承諾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 Personal promises about redemption terms or dates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40680" y="3712464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一切以活動頁公告與券面規則為準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370832"/>
            <a:ext cx="8138160" cy="530352"/>
          </a:xfrm>
          <a:prstGeom prst="roundRect">
            <a:avLst>
              <a:gd name="adj" fmla="val 10345"/>
            </a:avLst>
          </a:prstGeom>
          <a:solidFill>
            <a:srgbClr val="FBF1DC"/>
          </a:solidFill>
          <a:ln w="9525">
            <a:solidFill>
              <a:srgbClr val="9C62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4416552"/>
            <a:ext cx="78455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C62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🙋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9C62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遇到無法回答或客人情緒不佳時，請轉給主管處理，不要自行承諾。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C62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 If you cannot answer, or the guest is upset, escalate to your supervisor — do not make commitments yourself.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九、什麼狀況要往上回報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When to Escalate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941832"/>
            <a:ext cx="457200" cy="36576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5" name="Text 3"/>
          <p:cNvSpPr/>
          <p:nvPr/>
        </p:nvSpPr>
        <p:spPr>
          <a:xfrm>
            <a:off x="8366760" y="477774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7777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員工手冊 · InterCoins Lite Staff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801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280160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客人說沒收到券，且在 LINE 對話中確實找不到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Guest reports a missing coupon and it is genuinely not in their LINE chat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892808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38528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93852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客人的兌換碼查不到，或狀態異常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redemption code cannot be found, or its status looks wrong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551176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9689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596896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客人拿臺北洲際的兌換碼到高雄要求核銷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guest presents a Taipei redemption code at a Kaohsiung counter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209544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5526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255264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客人對中獎結果或活動規則提出申訴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guest disputes the result or the campaign rules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867912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FFDFA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1363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913632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同一位客人短時間內出現大量中獎紀錄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6E6A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 guest shows an unusually high number of wins in a short period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一頁速查卡
</a:t>
            </a:r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8A83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Quick Reference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69264"/>
            <a:ext cx="457200" cy="36576"/>
          </a:xfrm>
          <a:prstGeom prst="rect">
            <a:avLst/>
          </a:prstGeom>
          <a:solidFill>
            <a:srgbClr val="B8923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98448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F3EADA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4264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" y="14264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有優惠券　</a:t>
            </a:r>
            <a:pPr indent="0" marL="0">
              <a:buNone/>
            </a:pPr>
            <a:r>
              <a:rPr lang="en-US" sz="900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Coupon Issued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1773936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券自動進客人 LINE
出示兌換碼 → 櫃檯核銷
</a:t>
            </a:r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Coupon in LINE → redeem at counter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1298448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E7EDF3"/>
          </a:solidFill>
          <a:ln/>
        </p:spPr>
      </p:sp>
      <p:sp>
        <p:nvSpPr>
          <p:cNvPr id="9" name="Text 7"/>
          <p:cNvSpPr/>
          <p:nvPr/>
        </p:nvSpPr>
        <p:spPr>
          <a:xfrm>
            <a:off x="4818888" y="14264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📞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21224" y="14264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53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只有兌換碼　</a:t>
            </a:r>
            <a:pPr indent="0" marL="0">
              <a:buNone/>
            </a:pPr>
            <a:r>
              <a:rPr lang="en-US" sz="900" dirty="0">
                <a:solidFill>
                  <a:srgbClr val="3553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 Only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37176" y="1773936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553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臺北或住宿 → 不核銷，等聯繫
其餘高雄的獎 → 受理，回報主管
</a:t>
            </a:r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553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Taipei / room stay → no. Others → accept &amp; report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E8F3EC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05409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2144" y="30540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每抽必中　</a:t>
            </a:r>
            <a:pPr indent="0" marL="0">
              <a:buNone/>
            </a:pPr>
            <a:r>
              <a:rPr lang="en-US" sz="900" dirty="0">
                <a:solidFill>
                  <a:srgbClr val="1F6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Every Spin Wins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" y="3401568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6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每次扣幣但一定中獎，最少 85 折
85 折不在清單上；清單含已送完的獎
</a:t>
            </a:r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F6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Every spin wins — min. 15% discount (unlisted); list includes sold-out items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292608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FBEDED"/>
          </a:solidFill>
          <a:ln/>
        </p:spPr>
      </p:sp>
      <p:sp>
        <p:nvSpPr>
          <p:cNvPr id="17" name="Text 15"/>
          <p:cNvSpPr/>
          <p:nvPr/>
        </p:nvSpPr>
        <p:spPr>
          <a:xfrm>
            <a:off x="4818888" y="305409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🚫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21224" y="30540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絕不能說　</a:t>
            </a:r>
            <a:pPr indent="0" marL="0">
              <a:buNone/>
            </a:pPr>
            <a:r>
              <a:rPr lang="en-US" sz="900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Never Disclose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37176" y="3401568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中獎機率 · 剩餘數量 · 其他客人資料
不確定就轉主管，不要自行承諾
</a:t>
            </a:r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9A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Odds · stock · other guests' data — escalate if unsure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5217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活動期間 Campaign Period　2026.09.01 – 11.30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InterContinental Kaohsiung × Taipei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洲遊幣 Lite 員工手冊（雙語）</dc:title>
  <dc:subject>InterCoins Lite Staff Guide (Bilingual)</dc:subject>
  <dc:creator>Tony Chen</dc:creator>
  <cp:lastModifiedBy>Tony Chen</cp:lastModifiedBy>
  <cp:revision>1</cp:revision>
  <dcterms:created xsi:type="dcterms:W3CDTF">2026-09-07T06:32:47Z</dcterms:created>
  <dcterms:modified xsi:type="dcterms:W3CDTF">2026-09-07T06:32:47Z</dcterms:modified>
</cp:coreProperties>
</file>